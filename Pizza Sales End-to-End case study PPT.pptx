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E1F8F-E454-60D8-0282-2D57C0143F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916030-0FB2-A1D2-3025-3C1B4C5940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FB0E7A-3123-783D-8700-A5B3B3B4428E}"/>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5" name="Footer Placeholder 4">
            <a:extLst>
              <a:ext uri="{FF2B5EF4-FFF2-40B4-BE49-F238E27FC236}">
                <a16:creationId xmlns:a16="http://schemas.microsoft.com/office/drawing/2014/main" id="{262917AD-FB01-2D5B-D07A-38F2CC4D06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BA187A-7C66-4041-F738-3FDB2DBDD553}"/>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542152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72C8-A846-8F1F-F282-03E402B31A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B33E42-7E99-7067-1D1E-3CF7CF9423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AACA85-7BB8-F7F0-85B6-F9920A9FBF79}"/>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5" name="Footer Placeholder 4">
            <a:extLst>
              <a:ext uri="{FF2B5EF4-FFF2-40B4-BE49-F238E27FC236}">
                <a16:creationId xmlns:a16="http://schemas.microsoft.com/office/drawing/2014/main" id="{5305C790-410F-781C-EBDA-6827BD426F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7DDA8A-D33A-505B-7380-8848E24177F6}"/>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1349453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78988-1BBE-EBD3-F228-060CB9B476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A324AE-8DBF-6E78-0AA8-4CA19FEED7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5BC985-6098-0854-9E7F-5E3DA79CAA08}"/>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5" name="Footer Placeholder 4">
            <a:extLst>
              <a:ext uri="{FF2B5EF4-FFF2-40B4-BE49-F238E27FC236}">
                <a16:creationId xmlns:a16="http://schemas.microsoft.com/office/drawing/2014/main" id="{F08EA4ED-EEF0-4B79-54B2-C068CB9A60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39102-87FE-346A-369A-67DCAA7A5BBC}"/>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4169054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9C61-4272-6F0C-D5CA-56B7662E74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184E02-5A99-9CC9-2DC2-6BB1A41312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890749-3B52-65DB-1157-464D3D3BDA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8EFFD2-21B7-4888-544C-24CDF83AB09C}"/>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6" name="Footer Placeholder 5">
            <a:extLst>
              <a:ext uri="{FF2B5EF4-FFF2-40B4-BE49-F238E27FC236}">
                <a16:creationId xmlns:a16="http://schemas.microsoft.com/office/drawing/2014/main" id="{1D7446B6-CEB8-46DD-7B3C-665D794653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08FD1B-9177-4BA1-569F-1E9389FE6C1F}"/>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2775432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8B684-58B8-8BD5-5913-454300A5CA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CC1A85-A0A9-A1B2-CE55-18273DF82E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03674B-5D79-FBA4-959F-D51CEE50E8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03737D-4794-1FA7-DED0-03E2B50069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942703-2E3F-57D0-C487-9D1B4D14B0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AC43FB-089A-9843-6CD4-AB19DC40E343}"/>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8" name="Footer Placeholder 7">
            <a:extLst>
              <a:ext uri="{FF2B5EF4-FFF2-40B4-BE49-F238E27FC236}">
                <a16:creationId xmlns:a16="http://schemas.microsoft.com/office/drawing/2014/main" id="{637A2170-1D07-7993-67F3-258B6130A9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279775-DACE-0DDE-3204-B66EBBEA3568}"/>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7231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CF35A-1D4E-C258-D19A-82B6D55B74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2415F4-CCBA-C5F8-73F6-FCA383E3AAAB}"/>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4" name="Footer Placeholder 3">
            <a:extLst>
              <a:ext uri="{FF2B5EF4-FFF2-40B4-BE49-F238E27FC236}">
                <a16:creationId xmlns:a16="http://schemas.microsoft.com/office/drawing/2014/main" id="{AC04EDE4-095B-E54D-562C-E40A5C9F05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07B3E6-BA24-B2AE-9EBE-26868C15CB90}"/>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4231503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6F98C8-2555-8FC9-7E73-61B21A301219}"/>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3" name="Footer Placeholder 2">
            <a:extLst>
              <a:ext uri="{FF2B5EF4-FFF2-40B4-BE49-F238E27FC236}">
                <a16:creationId xmlns:a16="http://schemas.microsoft.com/office/drawing/2014/main" id="{CBB7BC5D-D97B-0FD9-FC5B-F071C13489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00E9DC-6C2F-1DBD-24ED-3D0A8168E6CD}"/>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1752301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9803A-10B9-680E-072B-64953F7CC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4F3825-033B-454A-3BE4-54CDE0A9CE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4C31DB-519E-D8B0-1560-208004834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8E0789-9204-3641-8ACD-E3CD450D589A}"/>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6" name="Footer Placeholder 5">
            <a:extLst>
              <a:ext uri="{FF2B5EF4-FFF2-40B4-BE49-F238E27FC236}">
                <a16:creationId xmlns:a16="http://schemas.microsoft.com/office/drawing/2014/main" id="{C7C0090B-73F1-66C7-6400-8F521C5BB0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76C672-F1EA-8952-FEB6-043786CAFED7}"/>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3817162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20278-5CC4-2797-1074-08CB7A7CDF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4E8C70-FF53-F8ED-F036-60CFA3791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E34076-9712-7127-D228-EA3C629FA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7C502A-7176-531B-4623-E88FAA86F57C}"/>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6" name="Footer Placeholder 5">
            <a:extLst>
              <a:ext uri="{FF2B5EF4-FFF2-40B4-BE49-F238E27FC236}">
                <a16:creationId xmlns:a16="http://schemas.microsoft.com/office/drawing/2014/main" id="{3EA3311E-3550-F537-537E-55432D2639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CE4D86-BF95-2315-D674-95A440A5D6FE}"/>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734528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CB84E-63A7-A5DE-8FD0-86B134497E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265FBC-4E7E-0535-34C2-F87A1B0F6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39B321-6A47-BA6F-03AF-CE1430F8FED1}"/>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5" name="Footer Placeholder 4">
            <a:extLst>
              <a:ext uri="{FF2B5EF4-FFF2-40B4-BE49-F238E27FC236}">
                <a16:creationId xmlns:a16="http://schemas.microsoft.com/office/drawing/2014/main" id="{A610298D-E08E-0C04-83A3-84991CE93C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C5793A-01A8-20CA-274B-BA03C019752C}"/>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2227017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0F6E95-F8FE-8FA4-F111-98FF516A3F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652D1C-02EA-2CE8-D630-630F4AAB44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03DB2A-917F-CA31-1A98-DF5F8373A5BB}"/>
              </a:ext>
            </a:extLst>
          </p:cNvPr>
          <p:cNvSpPr>
            <a:spLocks noGrp="1"/>
          </p:cNvSpPr>
          <p:nvPr>
            <p:ph type="dt" sz="half" idx="10"/>
          </p:nvPr>
        </p:nvSpPr>
        <p:spPr/>
        <p:txBody>
          <a:bodyPr/>
          <a:lstStyle/>
          <a:p>
            <a:fld id="{A535A785-BAA0-4558-8FDF-3793402A24BA}" type="datetimeFigureOut">
              <a:rPr lang="en-IN" smtClean="0"/>
              <a:t>25-02-2026</a:t>
            </a:fld>
            <a:endParaRPr lang="en-IN"/>
          </a:p>
        </p:txBody>
      </p:sp>
      <p:sp>
        <p:nvSpPr>
          <p:cNvPr id="5" name="Footer Placeholder 4">
            <a:extLst>
              <a:ext uri="{FF2B5EF4-FFF2-40B4-BE49-F238E27FC236}">
                <a16:creationId xmlns:a16="http://schemas.microsoft.com/office/drawing/2014/main" id="{98280CF8-2279-8D3B-802F-8498FF2B81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7E4502-4D1A-95A8-1650-C18E19C1F242}"/>
              </a:ext>
            </a:extLst>
          </p:cNvPr>
          <p:cNvSpPr>
            <a:spLocks noGrp="1"/>
          </p:cNvSpPr>
          <p:nvPr>
            <p:ph type="sldNum" sz="quarter" idx="12"/>
          </p:nvPr>
        </p:nvSpPr>
        <p:spPr/>
        <p:txBody>
          <a:bodyPr/>
          <a:lstStyle/>
          <a:p>
            <a:fld id="{1ED6734E-EBF3-40CC-B998-DF76A1A8178A}" type="slidenum">
              <a:rPr lang="en-IN" smtClean="0"/>
              <a:t>‹#›</a:t>
            </a:fld>
            <a:endParaRPr lang="en-IN"/>
          </a:p>
        </p:txBody>
      </p:sp>
    </p:spTree>
    <p:extLst>
      <p:ext uri="{BB962C8B-B14F-4D97-AF65-F5344CB8AC3E}">
        <p14:creationId xmlns:p14="http://schemas.microsoft.com/office/powerpoint/2010/main" val="2013194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016C49-97AC-0A3A-A928-160A4241DE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DABA9B-2FFF-A467-1E66-7DC75FA55A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89996-8FD7-65BC-0C25-0669F41F11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35A785-BAA0-4558-8FDF-3793402A24BA}" type="datetimeFigureOut">
              <a:rPr lang="en-IN" smtClean="0"/>
              <a:t>25-02-2026</a:t>
            </a:fld>
            <a:endParaRPr lang="en-IN"/>
          </a:p>
        </p:txBody>
      </p:sp>
      <p:sp>
        <p:nvSpPr>
          <p:cNvPr id="5" name="Footer Placeholder 4">
            <a:extLst>
              <a:ext uri="{FF2B5EF4-FFF2-40B4-BE49-F238E27FC236}">
                <a16:creationId xmlns:a16="http://schemas.microsoft.com/office/drawing/2014/main" id="{97EFCC0B-0E57-BF84-2F46-6AA7A01B38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37248D-F8FF-9828-5DEC-E9A02F3C1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D6734E-EBF3-40CC-B998-DF76A1A8178A}" type="slidenum">
              <a:rPr lang="en-IN" smtClean="0"/>
              <a:t>‹#›</a:t>
            </a:fld>
            <a:endParaRPr lang="en-IN"/>
          </a:p>
        </p:txBody>
      </p:sp>
    </p:spTree>
    <p:extLst>
      <p:ext uri="{BB962C8B-B14F-4D97-AF65-F5344CB8AC3E}">
        <p14:creationId xmlns:p14="http://schemas.microsoft.com/office/powerpoint/2010/main" val="1201167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474213-FF96-FB4F-CFD1-0093CC294523}"/>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4ACD764-B95A-B206-ABEF-C27A1389FF98}"/>
              </a:ext>
            </a:extLst>
          </p:cNvPr>
          <p:cNvSpPr txBox="1"/>
          <p:nvPr/>
        </p:nvSpPr>
        <p:spPr>
          <a:xfrm>
            <a:off x="147484" y="157316"/>
            <a:ext cx="11592232" cy="2092881"/>
          </a:xfrm>
          <a:prstGeom prst="rect">
            <a:avLst/>
          </a:prstGeom>
          <a:noFill/>
        </p:spPr>
        <p:txBody>
          <a:bodyPr wrap="square" rtlCol="0">
            <a:spAutoFit/>
          </a:bodyPr>
          <a:lstStyle/>
          <a:p>
            <a:pPr algn="ctr"/>
            <a:r>
              <a:rPr lang="en-US" sz="2800" b="1" dirty="0"/>
              <a:t>Sales Optimization Using SQL &amp; Business Analysis</a:t>
            </a:r>
          </a:p>
          <a:p>
            <a:r>
              <a:rPr lang="en-US" sz="2800" b="1" dirty="0"/>
              <a:t>Project Objective:</a:t>
            </a:r>
            <a:br>
              <a:rPr lang="en-US" sz="2800" dirty="0"/>
            </a:br>
            <a:r>
              <a:rPr lang="en-US" sz="2800" dirty="0"/>
              <a:t>To analyze pizza sales data using SQL and identify actionable strategies to increase revenue, improve product performance, and optimize operations.</a:t>
            </a:r>
          </a:p>
          <a:p>
            <a:endParaRPr lang="en-IN" dirty="0"/>
          </a:p>
        </p:txBody>
      </p:sp>
      <p:sp>
        <p:nvSpPr>
          <p:cNvPr id="7" name="TextBox 6">
            <a:extLst>
              <a:ext uri="{FF2B5EF4-FFF2-40B4-BE49-F238E27FC236}">
                <a16:creationId xmlns:a16="http://schemas.microsoft.com/office/drawing/2014/main" id="{AC162F64-A4A5-6842-D7D8-C7FBAFFC0462}"/>
              </a:ext>
            </a:extLst>
          </p:cNvPr>
          <p:cNvSpPr txBox="1"/>
          <p:nvPr/>
        </p:nvSpPr>
        <p:spPr>
          <a:xfrm>
            <a:off x="147484" y="2438400"/>
            <a:ext cx="11788877" cy="4493538"/>
          </a:xfrm>
          <a:prstGeom prst="rect">
            <a:avLst/>
          </a:prstGeom>
          <a:noFill/>
        </p:spPr>
        <p:txBody>
          <a:bodyPr wrap="square" rtlCol="0">
            <a:spAutoFit/>
          </a:bodyPr>
          <a:lstStyle/>
          <a:p>
            <a:r>
              <a:rPr lang="en-US" sz="2800" b="1" dirty="0"/>
              <a:t>Business Problem</a:t>
            </a:r>
          </a:p>
          <a:p>
            <a:r>
              <a:rPr lang="en-US" sz="2400" b="1" dirty="0"/>
              <a:t>Problem Statement</a:t>
            </a:r>
          </a:p>
          <a:p>
            <a:r>
              <a:rPr lang="en-US" sz="2400" dirty="0"/>
              <a:t>The restaurant was experiencing:</a:t>
            </a:r>
          </a:p>
          <a:p>
            <a:pPr marL="342900" indent="-342900">
              <a:buFont typeface="Arial" panose="020B0604020202020204" pitchFamily="34" charset="0"/>
              <a:buChar char="•"/>
            </a:pPr>
            <a:r>
              <a:rPr lang="en-US" sz="2400" dirty="0"/>
              <a:t>Uneven sales distribution throughout the day</a:t>
            </a:r>
          </a:p>
          <a:p>
            <a:pPr marL="342900" indent="-342900">
              <a:buFont typeface="Arial" panose="020B0604020202020204" pitchFamily="34" charset="0"/>
              <a:buChar char="•"/>
            </a:pPr>
            <a:r>
              <a:rPr lang="en-US" sz="2400" dirty="0"/>
              <a:t>Heavy dependency on lunch and dinner hours</a:t>
            </a:r>
          </a:p>
          <a:p>
            <a:pPr marL="342900" indent="-342900">
              <a:buFont typeface="Arial" panose="020B0604020202020204" pitchFamily="34" charset="0"/>
              <a:buChar char="•"/>
            </a:pPr>
            <a:r>
              <a:rPr lang="en-US" sz="2400" dirty="0"/>
              <a:t>Low performance of XXL size and Chicken category pizzas</a:t>
            </a:r>
          </a:p>
          <a:p>
            <a:pPr marL="342900" indent="-342900">
              <a:buFont typeface="Arial" panose="020B0604020202020204" pitchFamily="34" charset="0"/>
              <a:buChar char="•"/>
            </a:pPr>
            <a:r>
              <a:rPr lang="en-US" sz="2400" dirty="0"/>
              <a:t>Generic promotions not backed by data</a:t>
            </a:r>
          </a:p>
          <a:p>
            <a:pPr marL="342900" indent="-342900">
              <a:buFont typeface="Arial" panose="020B0604020202020204" pitchFamily="34" charset="0"/>
              <a:buChar char="•"/>
            </a:pPr>
            <a:r>
              <a:rPr lang="en-US" sz="2400" dirty="0"/>
              <a:t>Inventory wastage during non-peak hours</a:t>
            </a:r>
          </a:p>
          <a:p>
            <a:pPr marL="342900" indent="-342900">
              <a:buFont typeface="Arial" panose="020B0604020202020204" pitchFamily="34" charset="0"/>
              <a:buChar char="•"/>
            </a:pPr>
            <a:r>
              <a:rPr lang="en-US" sz="2400" dirty="0"/>
              <a:t>Staff underutilization in morning &amp; late-night slots</a:t>
            </a:r>
          </a:p>
          <a:p>
            <a:r>
              <a:rPr lang="en-US" sz="2400" b="1" dirty="0"/>
              <a:t>Business Goal:</a:t>
            </a:r>
          </a:p>
          <a:p>
            <a:r>
              <a:rPr lang="en-US" sz="2400" dirty="0"/>
              <a:t>Use data-driven insights to improve revenue and operational efficiency.</a:t>
            </a:r>
          </a:p>
          <a:p>
            <a:endParaRPr lang="en-IN" dirty="0"/>
          </a:p>
        </p:txBody>
      </p:sp>
    </p:spTree>
    <p:extLst>
      <p:ext uri="{BB962C8B-B14F-4D97-AF65-F5344CB8AC3E}">
        <p14:creationId xmlns:p14="http://schemas.microsoft.com/office/powerpoint/2010/main" val="3338609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DDD38E-08B5-CD04-A389-0046F378CD71}"/>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AE2C03F-2F4B-F162-8E3C-A40753FB41C2}"/>
              </a:ext>
            </a:extLst>
          </p:cNvPr>
          <p:cNvSpPr txBox="1"/>
          <p:nvPr/>
        </p:nvSpPr>
        <p:spPr>
          <a:xfrm>
            <a:off x="0" y="0"/>
            <a:ext cx="12300155" cy="6832640"/>
          </a:xfrm>
          <a:prstGeom prst="rect">
            <a:avLst/>
          </a:prstGeom>
          <a:noFill/>
        </p:spPr>
        <p:txBody>
          <a:bodyPr wrap="square" rtlCol="0">
            <a:spAutoFit/>
          </a:bodyPr>
          <a:lstStyle/>
          <a:p>
            <a:pPr algn="ctr"/>
            <a:r>
              <a:rPr lang="en-US" sz="3600" b="1" dirty="0"/>
              <a:t>Data Analysis &amp; Key Insights (SQL-Based)</a:t>
            </a:r>
          </a:p>
          <a:p>
            <a:r>
              <a:rPr lang="en-US" sz="2400" dirty="0"/>
              <a:t>Using SQL queries (JOIN, GROUP BY, SUM, and COUNT), the following insights were identified:</a:t>
            </a:r>
          </a:p>
          <a:p>
            <a:r>
              <a:rPr lang="en-US" sz="2400" b="1" dirty="0"/>
              <a:t>🕒 Time-Based Sales Analysis</a:t>
            </a:r>
          </a:p>
          <a:p>
            <a:pPr marL="342900" indent="-342900">
              <a:buFont typeface="Arial" panose="020B0604020202020204" pitchFamily="34" charset="0"/>
              <a:buChar char="•"/>
            </a:pPr>
            <a:r>
              <a:rPr lang="en-US" sz="2400" dirty="0"/>
              <a:t>Peak Hours: 12 PM–3 PM &amp; 7 PM–10 PM</a:t>
            </a:r>
          </a:p>
          <a:p>
            <a:pPr marL="342900" indent="-342900">
              <a:buFont typeface="Arial" panose="020B0604020202020204" pitchFamily="34" charset="0"/>
              <a:buChar char="•"/>
            </a:pPr>
            <a:r>
              <a:rPr lang="en-US" sz="2400" dirty="0"/>
              <a:t>Non-Peak Hours: Morning &amp; Mid-Afternoon</a:t>
            </a:r>
          </a:p>
          <a:p>
            <a:pPr marL="342900" indent="-342900">
              <a:buFont typeface="Arial" panose="020B0604020202020204" pitchFamily="34" charset="0"/>
              <a:buChar char="•"/>
            </a:pPr>
            <a:r>
              <a:rPr lang="en-US" sz="2400" dirty="0"/>
              <a:t>Sales are heavily concentrated in limited time windows</a:t>
            </a:r>
          </a:p>
          <a:p>
            <a:r>
              <a:rPr lang="en-US" sz="2400" b="1" dirty="0"/>
              <a:t>📦 Size Performance</a:t>
            </a:r>
          </a:p>
          <a:p>
            <a:pPr marL="342900" indent="-342900">
              <a:buFont typeface="Arial" panose="020B0604020202020204" pitchFamily="34" charset="0"/>
              <a:buChar char="•"/>
            </a:pPr>
            <a:r>
              <a:rPr lang="en-US" sz="2400" dirty="0"/>
              <a:t>Most Ordered Size: Large</a:t>
            </a:r>
          </a:p>
          <a:p>
            <a:pPr marL="342900" indent="-342900">
              <a:buFont typeface="Arial" panose="020B0604020202020204" pitchFamily="34" charset="0"/>
              <a:buChar char="•"/>
            </a:pPr>
            <a:r>
              <a:rPr lang="en-US" sz="2400" dirty="0"/>
              <a:t>Least Ordered Size: XXL</a:t>
            </a:r>
          </a:p>
          <a:p>
            <a:r>
              <a:rPr lang="en-US" sz="2400" b="1" dirty="0"/>
              <a:t>🍕 Category Performance</a:t>
            </a:r>
          </a:p>
          <a:p>
            <a:pPr marL="342900" indent="-342900">
              <a:buFont typeface="Arial" panose="020B0604020202020204" pitchFamily="34" charset="0"/>
              <a:buChar char="•"/>
            </a:pPr>
            <a:r>
              <a:rPr lang="en-US" sz="2400" dirty="0"/>
              <a:t>Top Category (Quantity): Classic</a:t>
            </a:r>
          </a:p>
          <a:p>
            <a:pPr marL="342900" indent="-342900">
              <a:buFont typeface="Arial" panose="020B0604020202020204" pitchFamily="34" charset="0"/>
              <a:buChar char="•"/>
            </a:pPr>
            <a:r>
              <a:rPr lang="en-US" sz="2400" dirty="0"/>
              <a:t>Lowest Category (Quantity): Chicken</a:t>
            </a:r>
          </a:p>
          <a:p>
            <a:pPr marL="342900" indent="-342900">
              <a:buFont typeface="Arial" panose="020B0604020202020204" pitchFamily="34" charset="0"/>
              <a:buChar char="•"/>
            </a:pPr>
            <a:r>
              <a:rPr lang="en-US" sz="2400" dirty="0"/>
              <a:t>Highest Revenue Pizza: Thai Chicken Pizza</a:t>
            </a:r>
          </a:p>
          <a:p>
            <a:pPr marL="342900" indent="-342900">
              <a:buFont typeface="Arial" panose="020B0604020202020204" pitchFamily="34" charset="0"/>
              <a:buChar char="•"/>
            </a:pPr>
            <a:r>
              <a:rPr lang="en-US" sz="2400" dirty="0"/>
              <a:t>Lowest Revenue Pizza: California Chicken Pizza</a:t>
            </a:r>
          </a:p>
          <a:p>
            <a:r>
              <a:rPr lang="en-US" sz="2400" b="1" dirty="0"/>
              <a:t>📊 Observation:</a:t>
            </a:r>
          </a:p>
          <a:p>
            <a:r>
              <a:rPr lang="en-US" sz="2400" dirty="0"/>
              <a:t>Revenue is concentrated in specific categories and time slots, leading to an imbalance in demand and resource </a:t>
            </a:r>
            <a:r>
              <a:rPr lang="en-US" sz="2400" dirty="0" err="1"/>
              <a:t>utilisation</a:t>
            </a:r>
            <a:r>
              <a:rPr lang="en-US" sz="2400" dirty="0"/>
              <a:t>.</a:t>
            </a:r>
          </a:p>
          <a:p>
            <a:endParaRPr lang="en-IN" dirty="0"/>
          </a:p>
        </p:txBody>
      </p:sp>
    </p:spTree>
    <p:extLst>
      <p:ext uri="{BB962C8B-B14F-4D97-AF65-F5344CB8AC3E}">
        <p14:creationId xmlns:p14="http://schemas.microsoft.com/office/powerpoint/2010/main" val="167543367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55FD6AE-4BD4-F9FA-4760-C4E84F207A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CF8CED-C895-4191-DCA6-CDA91CE6FF88}"/>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5" name="TextBox 4">
            <a:extLst>
              <a:ext uri="{FF2B5EF4-FFF2-40B4-BE49-F238E27FC236}">
                <a16:creationId xmlns:a16="http://schemas.microsoft.com/office/drawing/2014/main" id="{A19449FD-3299-5002-0049-DECFC993601C}"/>
              </a:ext>
            </a:extLst>
          </p:cNvPr>
          <p:cNvSpPr txBox="1"/>
          <p:nvPr/>
        </p:nvSpPr>
        <p:spPr>
          <a:xfrm>
            <a:off x="98323" y="-98324"/>
            <a:ext cx="12093677" cy="8317662"/>
          </a:xfrm>
          <a:prstGeom prst="rect">
            <a:avLst/>
          </a:prstGeom>
          <a:noFill/>
        </p:spPr>
        <p:txBody>
          <a:bodyPr wrap="square" rtlCol="0">
            <a:spAutoFit/>
          </a:bodyPr>
          <a:lstStyle/>
          <a:p>
            <a:pPr algn="ctr"/>
            <a:r>
              <a:rPr lang="en-IN" sz="4000" b="1" dirty="0"/>
              <a:t>Root Cause &amp; Gap Analysis</a:t>
            </a:r>
            <a:endParaRPr lang="en-IN" sz="3200" b="1" dirty="0"/>
          </a:p>
          <a:p>
            <a:pPr marL="457200" indent="-457200">
              <a:buFont typeface="Arial" panose="020B0604020202020204" pitchFamily="34" charset="0"/>
              <a:buChar char="•"/>
            </a:pPr>
            <a:r>
              <a:rPr lang="en-US" sz="2800" b="1" dirty="0"/>
              <a:t>Root Causes Identified:</a:t>
            </a:r>
          </a:p>
          <a:p>
            <a:pPr marL="457200" indent="-457200">
              <a:buFont typeface="Arial" panose="020B0604020202020204" pitchFamily="34" charset="0"/>
              <a:buChar char="•"/>
            </a:pPr>
            <a:r>
              <a:rPr lang="en-US" sz="2400" dirty="0"/>
              <a:t>No time-based promotional strategy</a:t>
            </a:r>
          </a:p>
          <a:p>
            <a:pPr marL="457200" indent="-457200">
              <a:buFont typeface="Arial" panose="020B0604020202020204" pitchFamily="34" charset="0"/>
              <a:buChar char="•"/>
            </a:pPr>
            <a:r>
              <a:rPr lang="en-US" sz="2400" dirty="0"/>
              <a:t>Lack of product-level visibility before analysis</a:t>
            </a:r>
          </a:p>
          <a:p>
            <a:pPr marL="457200" indent="-457200">
              <a:buFont typeface="Arial" panose="020B0604020202020204" pitchFamily="34" charset="0"/>
              <a:buChar char="•"/>
            </a:pPr>
            <a:r>
              <a:rPr lang="en-US" sz="2400" dirty="0"/>
              <a:t>Generic discount offers applied across all products</a:t>
            </a:r>
          </a:p>
          <a:p>
            <a:pPr marL="457200" indent="-457200">
              <a:buFont typeface="Arial" panose="020B0604020202020204" pitchFamily="34" charset="0"/>
              <a:buChar char="•"/>
            </a:pPr>
            <a:r>
              <a:rPr lang="en-US" sz="2400" dirty="0"/>
              <a:t>Inventory prepared assuming steady demand</a:t>
            </a:r>
          </a:p>
          <a:p>
            <a:endParaRPr lang="en-US" sz="1050" dirty="0"/>
          </a:p>
          <a:p>
            <a:pPr marL="457200" indent="-457200">
              <a:buFont typeface="Arial" panose="020B0604020202020204" pitchFamily="34" charset="0"/>
              <a:buChar char="•"/>
            </a:pPr>
            <a:r>
              <a:rPr lang="en-IN" sz="2800" b="1" dirty="0"/>
              <a:t>Gap Identified:</a:t>
            </a:r>
          </a:p>
          <a:p>
            <a:pPr marL="285750" indent="-285750" fontAlgn="ctr">
              <a:buFont typeface="Arial" panose="020B0604020202020204" pitchFamily="34" charset="0"/>
              <a:buChar char="•"/>
            </a:pPr>
            <a:r>
              <a:rPr lang="en-IN" sz="2400" b="1" dirty="0"/>
              <a:t>Current State</a:t>
            </a:r>
          </a:p>
          <a:p>
            <a:pPr marL="285750" indent="-285750" fontAlgn="ctr">
              <a:buFont typeface="Arial" panose="020B0604020202020204" pitchFamily="34" charset="0"/>
              <a:buChar char="•"/>
            </a:pPr>
            <a:r>
              <a:rPr lang="en-IN" sz="2400" dirty="0"/>
              <a:t>Uneven hourly sales</a:t>
            </a:r>
          </a:p>
          <a:p>
            <a:pPr marL="285750" indent="-285750" fontAlgn="ctr">
              <a:buFont typeface="Arial" panose="020B0604020202020204" pitchFamily="34" charset="0"/>
              <a:buChar char="•"/>
            </a:pPr>
            <a:r>
              <a:rPr lang="en-IN" sz="2400" dirty="0"/>
              <a:t>Low XXL &amp; Chicken sales</a:t>
            </a:r>
          </a:p>
          <a:p>
            <a:pPr marL="285750" indent="-285750" fontAlgn="ctr">
              <a:buFont typeface="Arial" panose="020B0604020202020204" pitchFamily="34" charset="0"/>
              <a:buChar char="•"/>
            </a:pPr>
            <a:r>
              <a:rPr lang="en-IN" sz="2400" dirty="0"/>
              <a:t>Inventory wastage</a:t>
            </a:r>
          </a:p>
          <a:p>
            <a:pPr marL="285750" indent="-285750" fontAlgn="ctr">
              <a:buFont typeface="Arial" panose="020B0604020202020204" pitchFamily="34" charset="0"/>
              <a:buChar char="•"/>
            </a:pPr>
            <a:r>
              <a:rPr lang="en-IN" sz="2400" dirty="0"/>
              <a:t>Assumption-based decisions</a:t>
            </a:r>
          </a:p>
          <a:p>
            <a:pPr marL="285750" indent="-285750" fontAlgn="ctr">
              <a:buFont typeface="Arial" panose="020B0604020202020204" pitchFamily="34" charset="0"/>
              <a:buChar char="•"/>
            </a:pPr>
            <a:r>
              <a:rPr lang="en-IN" sz="2400" b="1" dirty="0"/>
              <a:t>Desired Future State</a:t>
            </a:r>
          </a:p>
          <a:p>
            <a:pPr marL="285750" indent="-285750" fontAlgn="ctr">
              <a:buFont typeface="Arial" panose="020B0604020202020204" pitchFamily="34" charset="0"/>
              <a:buChar char="•"/>
            </a:pPr>
            <a:r>
              <a:rPr lang="en-IN" sz="2400" dirty="0"/>
              <a:t>Balanced sales distribution</a:t>
            </a:r>
          </a:p>
          <a:p>
            <a:pPr marL="285750" indent="-285750" fontAlgn="ctr">
              <a:buFont typeface="Arial" panose="020B0604020202020204" pitchFamily="34" charset="0"/>
              <a:buChar char="•"/>
            </a:pPr>
            <a:r>
              <a:rPr lang="en-IN" sz="2400" dirty="0"/>
              <a:t>25–30% category growth</a:t>
            </a:r>
          </a:p>
          <a:p>
            <a:pPr marL="285750" indent="-285750" fontAlgn="ctr">
              <a:buFont typeface="Arial" panose="020B0604020202020204" pitchFamily="34" charset="0"/>
              <a:buChar char="•"/>
            </a:pPr>
            <a:r>
              <a:rPr lang="en-IN" sz="2400" dirty="0"/>
              <a:t>Demand-based planning</a:t>
            </a:r>
          </a:p>
          <a:p>
            <a:pPr marL="285750" indent="-285750">
              <a:buFont typeface="Arial" panose="020B0604020202020204" pitchFamily="34" charset="0"/>
              <a:buChar char="•"/>
            </a:pPr>
            <a:r>
              <a:rPr lang="en-IN" sz="2400" dirty="0"/>
              <a:t>Data-driven decisions</a:t>
            </a:r>
          </a:p>
          <a:p>
            <a:endParaRPr lang="en-IN" sz="2800" b="1" dirty="0"/>
          </a:p>
          <a:p>
            <a:endParaRPr lang="en-IN" sz="2800" b="1" dirty="0"/>
          </a:p>
          <a:p>
            <a:endParaRPr lang="en-IN" sz="2800" b="1" dirty="0"/>
          </a:p>
        </p:txBody>
      </p:sp>
    </p:spTree>
    <p:extLst>
      <p:ext uri="{BB962C8B-B14F-4D97-AF65-F5344CB8AC3E}">
        <p14:creationId xmlns:p14="http://schemas.microsoft.com/office/powerpoint/2010/main" val="301855025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AC37630-097D-8014-4EA8-7AA2143634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3092EF-7777-F595-51F8-18E6FD9E9687}"/>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17EC0D3-EF71-8C1F-7C6A-6E8C9DB2FC28}"/>
              </a:ext>
            </a:extLst>
          </p:cNvPr>
          <p:cNvSpPr txBox="1"/>
          <p:nvPr/>
        </p:nvSpPr>
        <p:spPr>
          <a:xfrm>
            <a:off x="245806" y="0"/>
            <a:ext cx="11700387" cy="4262705"/>
          </a:xfrm>
          <a:prstGeom prst="rect">
            <a:avLst/>
          </a:prstGeom>
          <a:noFill/>
        </p:spPr>
        <p:txBody>
          <a:bodyPr wrap="square" rtlCol="0">
            <a:spAutoFit/>
          </a:bodyPr>
          <a:lstStyle/>
          <a:p>
            <a:r>
              <a:rPr lang="en-US" sz="3500" b="1" dirty="0"/>
              <a:t>Business &amp; Functional Requirements</a:t>
            </a:r>
          </a:p>
          <a:p>
            <a:pPr marL="457200" indent="-457200">
              <a:buFont typeface="Arial" panose="020B0604020202020204" pitchFamily="34" charset="0"/>
              <a:buChar char="•"/>
            </a:pPr>
            <a:r>
              <a:rPr lang="en-US" sz="3000" b="1" dirty="0"/>
              <a:t>Business Objectives (BRD)</a:t>
            </a:r>
          </a:p>
          <a:p>
            <a:pPr marL="342900" indent="-342900">
              <a:buFont typeface="Arial" panose="020B0604020202020204" pitchFamily="34" charset="0"/>
              <a:buChar char="•"/>
            </a:pPr>
            <a:r>
              <a:rPr lang="en-US" sz="2500" dirty="0"/>
              <a:t>Increase non-peak hour revenue by 25% within 3 months</a:t>
            </a:r>
          </a:p>
          <a:p>
            <a:pPr marL="342900" indent="-342900">
              <a:buFont typeface="Arial" panose="020B0604020202020204" pitchFamily="34" charset="0"/>
              <a:buChar char="•"/>
            </a:pPr>
            <a:r>
              <a:rPr lang="en-US" sz="2500" dirty="0"/>
              <a:t>Increase XXL pizza orders by 30%</a:t>
            </a:r>
          </a:p>
          <a:p>
            <a:pPr marL="342900" indent="-342900">
              <a:buFont typeface="Arial" panose="020B0604020202020204" pitchFamily="34" charset="0"/>
              <a:buChar char="•"/>
            </a:pPr>
            <a:r>
              <a:rPr lang="en-US" sz="2500" dirty="0"/>
              <a:t>Increase Chicken category sales by 25%</a:t>
            </a:r>
          </a:p>
          <a:p>
            <a:pPr marL="342900" indent="-342900">
              <a:buFont typeface="Arial" panose="020B0604020202020204" pitchFamily="34" charset="0"/>
              <a:buChar char="•"/>
            </a:pPr>
            <a:r>
              <a:rPr lang="en-US" sz="2500" dirty="0"/>
              <a:t>Reduce ingredient wastage by 15%</a:t>
            </a:r>
          </a:p>
          <a:p>
            <a:pPr marL="342900" indent="-342900">
              <a:buFont typeface="Arial" panose="020B0604020202020204" pitchFamily="34" charset="0"/>
              <a:buChar char="•"/>
            </a:pPr>
            <a:r>
              <a:rPr lang="en-US" sz="2500" dirty="0"/>
              <a:t>Improve staff utilization during non-peak hours</a:t>
            </a:r>
          </a:p>
          <a:p>
            <a:endParaRPr lang="en-US" sz="2500" dirty="0"/>
          </a:p>
          <a:p>
            <a:br>
              <a:rPr lang="en-US" sz="2800" dirty="0"/>
            </a:br>
            <a:endParaRPr lang="en-IN" sz="2800" b="1" dirty="0"/>
          </a:p>
        </p:txBody>
      </p:sp>
    </p:spTree>
    <p:extLst>
      <p:ext uri="{BB962C8B-B14F-4D97-AF65-F5344CB8AC3E}">
        <p14:creationId xmlns:p14="http://schemas.microsoft.com/office/powerpoint/2010/main" val="56371073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28785C4-2C60-230C-5CBD-B4473B385E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C12473-42AF-4568-767A-2A0927DDDFBC}"/>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ADA1FF7-3CE9-DCB2-CD07-F3D6B9BF66EF}"/>
              </a:ext>
            </a:extLst>
          </p:cNvPr>
          <p:cNvSpPr txBox="1"/>
          <p:nvPr/>
        </p:nvSpPr>
        <p:spPr>
          <a:xfrm>
            <a:off x="0" y="0"/>
            <a:ext cx="12192000" cy="7263527"/>
          </a:xfrm>
          <a:prstGeom prst="rect">
            <a:avLst/>
          </a:prstGeom>
          <a:noFill/>
        </p:spPr>
        <p:txBody>
          <a:bodyPr wrap="square" rtlCol="0">
            <a:spAutoFit/>
          </a:bodyPr>
          <a:lstStyle/>
          <a:p>
            <a:r>
              <a:rPr lang="en-US" sz="3000" b="1" dirty="0"/>
              <a:t>Functional Requirements (FRD)</a:t>
            </a:r>
          </a:p>
          <a:p>
            <a:r>
              <a:rPr lang="en-US" sz="2400" b="1" dirty="0"/>
              <a:t>FR-01: XXL Size Promotional Discount</a:t>
            </a:r>
            <a:endParaRPr lang="en-US" sz="2400" dirty="0"/>
          </a:p>
          <a:p>
            <a:r>
              <a:rPr lang="en-US" sz="2000" dirty="0"/>
              <a:t>The system shall apply a 10% discount to all XXL size pizzas during the configured promotional period and automatically display the original price, discount amount, and final payable amount on the billing screen and invoice.</a:t>
            </a:r>
          </a:p>
          <a:p>
            <a:r>
              <a:rPr lang="en-US" sz="2400" b="1" dirty="0"/>
              <a:t>FR-02: Thai Chicken Pizza Promotional Discount</a:t>
            </a:r>
            <a:endParaRPr lang="en-US" sz="2400" dirty="0"/>
          </a:p>
          <a:p>
            <a:r>
              <a:rPr lang="en-US" sz="2000" dirty="0"/>
              <a:t>The system shall apply a 5% discount to the Thai Chicken pizza type during the configured promotional period and display the original price, discount amount, and final payable amount on the billing screen and invoice.</a:t>
            </a:r>
          </a:p>
          <a:p>
            <a:r>
              <a:rPr lang="en-US" sz="2400" b="1" dirty="0"/>
              <a:t>FR-03: Chicken Category Promotional Discount</a:t>
            </a:r>
            <a:endParaRPr lang="en-US" sz="2400" dirty="0"/>
          </a:p>
          <a:p>
            <a:r>
              <a:rPr lang="en-US" sz="2000" dirty="0"/>
              <a:t>The system shall apply an 18% discount to all pizzas under the Chicken category during the configured promotional period and display the original price, discount amount, and final payable amount on the billing screen and invoice.</a:t>
            </a:r>
          </a:p>
          <a:p>
            <a:r>
              <a:rPr lang="en-US" sz="2400" b="1" dirty="0"/>
              <a:t>FR-04: California Chicken Pizza Promotional Discount</a:t>
            </a:r>
            <a:endParaRPr lang="en-US" sz="2400" dirty="0"/>
          </a:p>
          <a:p>
            <a:r>
              <a:rPr lang="en-US" sz="2000" dirty="0"/>
              <a:t>The system shall apply a 10% discount to the California Chicken pizza during the configured promotional period and display the original price, discount amount, and final payable amount on the billing screen and invoice.</a:t>
            </a:r>
          </a:p>
          <a:p>
            <a:r>
              <a:rPr lang="en-US" sz="2400" b="1" dirty="0"/>
              <a:t>FR-05: Combo Offer</a:t>
            </a:r>
          </a:p>
          <a:p>
            <a:r>
              <a:rPr lang="en-US" sz="2000" dirty="0"/>
              <a:t>The system shall allow the Admin to configure combo offers and automatically apply the combo discount when eligible items are added to the cart, displaying the final payable amount on the billing screen.</a:t>
            </a:r>
          </a:p>
          <a:p>
            <a:endParaRPr lang="en-US" sz="2400" dirty="0"/>
          </a:p>
          <a:p>
            <a:endParaRPr lang="en-US" sz="2400" dirty="0"/>
          </a:p>
          <a:p>
            <a:br>
              <a:rPr lang="en-US" sz="2400" dirty="0"/>
            </a:br>
            <a:endParaRPr lang="en-IN" sz="2400" b="1" dirty="0"/>
          </a:p>
        </p:txBody>
      </p:sp>
    </p:spTree>
    <p:extLst>
      <p:ext uri="{BB962C8B-B14F-4D97-AF65-F5344CB8AC3E}">
        <p14:creationId xmlns:p14="http://schemas.microsoft.com/office/powerpoint/2010/main" val="87864421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2F839E8-9DE0-88BF-1EC5-D59B8D3147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5C4198-73FD-8E4F-4937-BD66729D2A7E}"/>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C4E34ED-BD35-123F-27F5-FA2DB750D59F}"/>
              </a:ext>
            </a:extLst>
          </p:cNvPr>
          <p:cNvSpPr txBox="1"/>
          <p:nvPr/>
        </p:nvSpPr>
        <p:spPr>
          <a:xfrm>
            <a:off x="0" y="0"/>
            <a:ext cx="12192000" cy="8094524"/>
          </a:xfrm>
          <a:prstGeom prst="rect">
            <a:avLst/>
          </a:prstGeom>
          <a:noFill/>
        </p:spPr>
        <p:txBody>
          <a:bodyPr wrap="square" rtlCol="0">
            <a:spAutoFit/>
          </a:bodyPr>
          <a:lstStyle/>
          <a:p>
            <a:r>
              <a:rPr lang="en-US" sz="3200" b="1" dirty="0"/>
              <a:t>👤 User Stories</a:t>
            </a:r>
          </a:p>
          <a:p>
            <a:r>
              <a:rPr lang="en-US" sz="3200" b="1" dirty="0"/>
              <a:t>US-01:</a:t>
            </a:r>
            <a:br>
              <a:rPr lang="en-US" sz="3200" dirty="0"/>
            </a:br>
            <a:r>
              <a:rPr lang="en-US" sz="3200" dirty="0"/>
              <a:t>As a marketing manager, I want to configure time-based discounts so that I can increase non-peak sales.</a:t>
            </a:r>
          </a:p>
          <a:p>
            <a:r>
              <a:rPr lang="en-US" sz="3200" b="1" dirty="0"/>
              <a:t>US-02:</a:t>
            </a:r>
            <a:br>
              <a:rPr lang="en-US" sz="3200" dirty="0"/>
            </a:br>
            <a:r>
              <a:rPr lang="en-US" sz="3200" dirty="0"/>
              <a:t>As a store cashier, I want discounts to apply automatically so that billing is accurate and quick.</a:t>
            </a:r>
          </a:p>
          <a:p>
            <a:endParaRPr lang="en-US" sz="3200" dirty="0"/>
          </a:p>
          <a:p>
            <a:r>
              <a:rPr lang="en-IN" sz="3200" b="1" dirty="0"/>
              <a:t>UAT Scenarios</a:t>
            </a:r>
          </a:p>
          <a:p>
            <a:r>
              <a:rPr lang="en-IN" sz="3200" dirty="0"/>
              <a:t>Verify 10% discount is applied to XXL pizzas during promotion.</a:t>
            </a:r>
          </a:p>
          <a:p>
            <a:r>
              <a:rPr lang="en-IN" sz="3200" dirty="0"/>
              <a:t>Verify combo offer applies when eligible items are added.</a:t>
            </a:r>
          </a:p>
          <a:p>
            <a:r>
              <a:rPr lang="en-IN" sz="3200" dirty="0"/>
              <a:t>Verify final payable amount reflects correct discount.</a:t>
            </a:r>
          </a:p>
          <a:p>
            <a:r>
              <a:rPr lang="en-IN" sz="3200" dirty="0"/>
              <a:t>Verify invoice displays discount breakdown correctly.</a:t>
            </a:r>
          </a:p>
          <a:p>
            <a:endParaRPr lang="en-US" sz="3200" dirty="0"/>
          </a:p>
          <a:p>
            <a:endParaRPr lang="en-US" sz="2400" dirty="0"/>
          </a:p>
          <a:p>
            <a:br>
              <a:rPr lang="en-US" sz="2400" dirty="0"/>
            </a:br>
            <a:endParaRPr lang="en-IN" sz="2400" b="1" dirty="0"/>
          </a:p>
        </p:txBody>
      </p:sp>
    </p:spTree>
    <p:extLst>
      <p:ext uri="{BB962C8B-B14F-4D97-AF65-F5344CB8AC3E}">
        <p14:creationId xmlns:p14="http://schemas.microsoft.com/office/powerpoint/2010/main" val="242094279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BD10DDF-D547-9E41-A635-7B8857BEA45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518E17-F9B1-489C-1D2B-DC72F1E885FE}"/>
              </a:ext>
            </a:extLst>
          </p:cNvPr>
          <p:cNvSpPr/>
          <p:nvPr/>
        </p:nvSpPr>
        <p:spPr>
          <a:xfrm>
            <a:off x="0" y="0"/>
            <a:ext cx="12192000" cy="68580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B31797E-0022-0D4B-7421-E9553FFBC342}"/>
              </a:ext>
            </a:extLst>
          </p:cNvPr>
          <p:cNvSpPr txBox="1"/>
          <p:nvPr/>
        </p:nvSpPr>
        <p:spPr>
          <a:xfrm>
            <a:off x="0" y="0"/>
            <a:ext cx="12192000" cy="5632311"/>
          </a:xfrm>
          <a:prstGeom prst="rect">
            <a:avLst/>
          </a:prstGeom>
          <a:noFill/>
        </p:spPr>
        <p:txBody>
          <a:bodyPr wrap="square" rtlCol="0">
            <a:spAutoFit/>
          </a:bodyPr>
          <a:lstStyle/>
          <a:p>
            <a:r>
              <a:rPr lang="en-IN" sz="2400" b="1" dirty="0"/>
              <a:t>Proposed Solutions &amp; Expected Impact</a:t>
            </a:r>
          </a:p>
          <a:p>
            <a:r>
              <a:rPr lang="en-IN" sz="2400" b="1" dirty="0"/>
              <a:t>Proposed Solutions</a:t>
            </a:r>
          </a:p>
          <a:p>
            <a:r>
              <a:rPr lang="en-IN" sz="2400" dirty="0"/>
              <a:t>Introduce time-based discounts during non-peak hours</a:t>
            </a:r>
          </a:p>
          <a:p>
            <a:r>
              <a:rPr lang="en-IN" sz="2400" dirty="0"/>
              <a:t>Launch XXL combo offers for group customers</a:t>
            </a:r>
          </a:p>
          <a:p>
            <a:r>
              <a:rPr lang="en-IN" sz="2400" dirty="0"/>
              <a:t>Promote Chicken category via targeted bundles</a:t>
            </a:r>
          </a:p>
          <a:p>
            <a:r>
              <a:rPr lang="en-IN" sz="2400" dirty="0"/>
              <a:t>Implement performance dashboards for management</a:t>
            </a:r>
          </a:p>
          <a:p>
            <a:r>
              <a:rPr lang="en-IN" sz="2400" dirty="0"/>
              <a:t>Align inventory planning with hourly demand trends</a:t>
            </a:r>
          </a:p>
          <a:p>
            <a:endParaRPr lang="en-IN" sz="2400" dirty="0"/>
          </a:p>
          <a:p>
            <a:r>
              <a:rPr lang="en-IN" sz="2400" b="1" dirty="0"/>
              <a:t>Expected Impact</a:t>
            </a:r>
          </a:p>
          <a:p>
            <a:r>
              <a:rPr lang="en-IN" sz="2400" dirty="0"/>
              <a:t>📈 Increased non-peak revenue</a:t>
            </a:r>
            <a:br>
              <a:rPr lang="en-IN" sz="2400" dirty="0"/>
            </a:br>
            <a:r>
              <a:rPr lang="en-IN" sz="2400" dirty="0"/>
              <a:t>📉 Reduced ingredient wastage</a:t>
            </a:r>
            <a:br>
              <a:rPr lang="en-IN" sz="2400" dirty="0"/>
            </a:br>
            <a:r>
              <a:rPr lang="en-IN" sz="2400" dirty="0"/>
              <a:t>📊 Data-driven marketing decisions</a:t>
            </a:r>
            <a:br>
              <a:rPr lang="en-IN" sz="2400" dirty="0"/>
            </a:br>
            <a:r>
              <a:rPr lang="en-IN" sz="2400" dirty="0"/>
              <a:t>⚖ Improved staff efficiency</a:t>
            </a:r>
            <a:br>
              <a:rPr lang="en-IN" sz="2400" dirty="0"/>
            </a:br>
            <a:r>
              <a:rPr lang="en-IN" sz="2400" dirty="0"/>
              <a:t>💰 Higher overall revenue and profitability</a:t>
            </a:r>
          </a:p>
          <a:p>
            <a:endParaRPr lang="en-IN" sz="2400" b="1" dirty="0"/>
          </a:p>
        </p:txBody>
      </p:sp>
    </p:spTree>
    <p:extLst>
      <p:ext uri="{BB962C8B-B14F-4D97-AF65-F5344CB8AC3E}">
        <p14:creationId xmlns:p14="http://schemas.microsoft.com/office/powerpoint/2010/main" val="188209962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115</TotalTime>
  <Words>709</Words>
  <Application>Microsoft Office PowerPoint</Application>
  <PresentationFormat>Widescreen</PresentationFormat>
  <Paragraphs>93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Shruti Naik</dc:creator>
  <cp:lastModifiedBy>Shruti Naik</cp:lastModifiedBy>
  <cp:revision>1</cp:revision>
  <dcterms:created xsi:type="dcterms:W3CDTF">2026-02-25T09:14:52Z</dcterms:created>
  <dcterms:modified xsi:type="dcterms:W3CDTF">2026-02-25T11:10:47Z</dcterms:modified>
</cp:coreProperties>
</file>